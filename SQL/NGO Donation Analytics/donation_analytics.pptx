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Raised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855942</c:v>
                </c:pt>
                <c:pt idx="1">
                  <c:v>840973</c:v>
                </c:pt>
                <c:pt idx="2">
                  <c:v>829664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F22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Organization</c:v>
                </c:pt>
                <c:pt idx="1">
                  <c:v>Individual</c:v>
                </c:pt>
                <c:pt idx="2">
                  <c:v>Corporate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860175</c:v>
                </c:pt>
                <c:pt idx="1">
                  <c:v>840074</c:v>
                </c:pt>
                <c:pt idx="2">
                  <c:v>826330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Raised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South</c:v>
                  </c:pt>
                  <c:pt idx="1">
                    <c:v>West</c:v>
                  </c:pt>
                  <c:pt idx="2">
                    <c:v>East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646000</c:v>
                </c:pt>
                <c:pt idx="1">
                  <c:v>637000</c:v>
                </c:pt>
                <c:pt idx="2">
                  <c:v>628000</c:v>
                </c:pt>
                <c:pt idx="3">
                  <c:v>615000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South</c:v>
                  </c:pt>
                  <c:pt idx="1">
                    <c:v>West</c:v>
                  </c:pt>
                  <c:pt idx="2">
                    <c:v>East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5.5</c:v>
                </c:pt>
                <c:pt idx="1">
                  <c:v>5.4</c:v>
                </c:pt>
                <c:pt idx="2">
                  <c:v>5.4</c:v>
                </c:pt>
                <c:pt idx="3">
                  <c:v>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Assignments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(8-10)</c:v>
                  </c:pt>
                  <c:pt idx="1">
                    <c:v>Medium (5-7.99)</c:v>
                  </c:pt>
                  <c:pt idx="2">
                    <c:v>Low (1-4.99)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1550</c:v>
                </c:pt>
                <c:pt idx="1">
                  <c:v>1715</c:v>
                </c:pt>
                <c:pt idx="2">
                  <c:v>1735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Strategic Recommendations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5,000 Donors  ·  5,000 Donations  ·  5,000 Assignments  ·  3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 |  Personal Projects Portfolio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$2.53M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Donations Raised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5,000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60120"/>
            <a:ext cx="1965960" cy="64008"/>
          </a:xfrm>
          <a:prstGeom prst="rect">
            <a:avLst/>
          </a:prstGeom>
          <a:solidFill>
            <a:srgbClr val="0F2244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Donors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Org, Corporate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Donation Amount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$10 – $1,000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60120"/>
            <a:ext cx="1965960" cy="64008"/>
          </a:xfrm>
          <a:prstGeom prst="rect">
            <a:avLst/>
          </a:prstGeom>
          <a:solidFill>
            <a:srgbClr val="0F2244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1874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1.0 – 10.0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8503920" cy="1508760"/>
          </a:xfrm>
          <a:prstGeom prst="rect">
            <a:avLst/>
          </a:prstGeom>
          <a:solidFill>
            <a:srgbClr val="FEF9C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Quality Flag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1,730 assignments (34.6%) carry a negative budget value.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likely represent cost-overruns, refunds, or data entry errors and should be validated before use in ROI calculations.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Trend by Year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28016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128016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33.9% share  ·  Highest year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251460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251460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722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 share  ·  Slight dip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89320" y="3749040"/>
            <a:ext cx="28346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3749040"/>
            <a:ext cx="73152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7220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 share  ·  Continued decline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Investigate declining trend with targeted year-end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by Donor 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840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731520"/>
                <a:gridCol w="7772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$860,175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$840,074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$826,330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937760" y="3200400"/>
            <a:ext cx="3840480" cy="15544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1206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120640" y="36118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donor types contribute nearly equally (~$840–860K). No single segment dominates — enabling a balanced multi-segment engagement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leads in fundraising. All regions are closely clustered — diversified geographic strategy is working.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Value Segmentation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Platinum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$892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$1.12M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691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971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High-touch stewardship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6012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$591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$740K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2880360"/>
            <a:ext cx="1691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971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Upsell opportunities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9601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960120"/>
            <a:ext cx="196596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Silver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$392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$490K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880360"/>
            <a:ext cx="1691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971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Loyalty programmes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960120"/>
            <a:ext cx="19659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960120"/>
            <a:ext cx="19659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143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Bronze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1600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2057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Avg: $145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$181K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2880360"/>
            <a:ext cx="1691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971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Acquisition retention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NTILE(4) window function segments donors by lifetime value — enabling precision fundraising strategies per tier.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Health &amp; Risk Flags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1005840"/>
            <a:ext cx="73152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051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8521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with negative budget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2240280"/>
            <a:ext cx="3200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240280"/>
            <a:ext cx="7315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5216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performance-score (&lt; 5.0)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474720"/>
            <a:ext cx="3200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3474720"/>
            <a:ext cx="73152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0" y="3520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521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performing (score ≥ 8.0)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Flag 'Critical Underperformers' (low score + bottom-quartile fundraising) for immediate review or resource reallocation.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05156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Reverse Declining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4173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fell 1.1% YoY (2020→2022). Launch targeted year-end campaigns and recurring giving programmes.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286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Nurture Platinum Donors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26517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25% of donors contribute 44% of revenue. Invest in high-touch stewardship, matching gifts and personal outreach.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52044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Fix Data Quality Issues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886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1,730 negative-budget assignments distort ROI metrics. Audit pipeline and enforce validation rules at data entry.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05156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51560"/>
            <a:ext cx="64008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Prioritise South &amp; West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14173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leads regions. Replicate successful campaign structures from South to boost North performance.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86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Build Donor Retention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26517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CTE-based classification (New / Recurring / Lapsed) to trigger automated re-engagement workflows.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520440"/>
            <a:ext cx="411480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52044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Leverage Multi-Region Donors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3886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active in 2+ regions are high-engagement ambassadors — create VIP tier and dedicated communication track.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Employed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3075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clauses for modular query design; chained CTEs for complex multi-step transformations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3134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DENSE_RANK, NTILE(4), LAG, SUM…OVER, AVG rolling windows, cumulative distribution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319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HAVING, ROLLUP-style totals, COALESCE for null-safe sums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023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 OUTER, self-joining for cross-referencing; EXISTS / NOT EXISTS for integrity checks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6012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005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13075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audits, duplicate detection, referential integrity checks, Z-score outlier flagging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9659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96596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23134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for performance bands, donor retention tiers, risk flags, quartile labels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97180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192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65192" y="3319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YEAR(), DATE_FORMAT(), DATEDIFF() for tenure, duration buckets, MoM calculations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9776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7764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65192" y="4023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VIEW for reusable BI layers: donor_leaderboard, assignment_dashboard, monthly_kpi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Next Steps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24688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7432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negative-budget records with source systems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3 reporting views to BI / dashboard tool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Segment email campaigns by donor value quartile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Schedule quarterly refresh of donor retention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github.com/your-username/personal_projects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Donation Analytics – Insights &amp; Recommendations</dc:title>
  <dc:subject>PptxGenJS Presentation</dc:subject>
  <dc:creator>PptxGenJS</dc:creator>
  <cp:lastModifiedBy>PptxGenJS</cp:lastModifiedBy>
  <cp:revision>1</cp:revision>
  <dcterms:created xsi:type="dcterms:W3CDTF">2026-04-23T21:06:35Z</dcterms:created>
  <dcterms:modified xsi:type="dcterms:W3CDTF">2026-04-23T21:06:35Z</dcterms:modified>
</cp:coreProperties>
</file>